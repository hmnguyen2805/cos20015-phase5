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  <p:sldMasterId id="2147483691" r:id="rId5"/>
    <p:sldMasterId id="2147483700" r:id="rId6"/>
    <p:sldMasterId id="2147483709" r:id="rId7"/>
  </p:sldMasterIdLst>
  <p:notesMasterIdLst>
    <p:notesMasterId r:id="rId18"/>
  </p:notesMasterIdLst>
  <p:handoutMasterIdLst>
    <p:handoutMasterId r:id="rId19"/>
  </p:handoutMasterIdLst>
  <p:sldIdLst>
    <p:sldId id="285" r:id="rId8"/>
    <p:sldId id="262" r:id="rId9"/>
    <p:sldId id="426" r:id="rId10"/>
    <p:sldId id="427" r:id="rId11"/>
    <p:sldId id="428" r:id="rId12"/>
    <p:sldId id="430" r:id="rId13"/>
    <p:sldId id="429" r:id="rId14"/>
    <p:sldId id="431" r:id="rId15"/>
    <p:sldId id="433" r:id="rId16"/>
    <p:sldId id="425" r:id="rId17"/>
  </p:sldIdLst>
  <p:sldSz cx="12192000" cy="6858000"/>
  <p:notesSz cx="6858000" cy="9144000"/>
  <p:embeddedFontLst>
    <p:embeddedFont>
      <p:font typeface="Barlow Light" panose="00000400000000000000" pitchFamily="2" charset="0"/>
      <p:regular r:id="rId20"/>
      <p:italic r:id="rId21"/>
    </p:embeddedFont>
    <p:embeddedFont>
      <p:font typeface="Barlow SemiBold" panose="00000700000000000000" pitchFamily="2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Extrabold" panose="020B0906030804020204" pitchFamily="34" charset="0"/>
      <p:bold r:id="rId38"/>
      <p:italic r:id="rId39"/>
      <p:boldItalic r:id="rId40"/>
    </p:embeddedFont>
    <p:embeddedFont>
      <p:font typeface="Open Sans Light" panose="020B0306030504020204" pitchFamily="34" charset="0"/>
      <p:regular r:id="rId41"/>
      <p:italic r:id="rId42"/>
    </p:embeddedFont>
    <p:embeddedFont>
      <p:font typeface="Open Sans Semibold" panose="020B0706030804020204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/>
    <p:restoredTop sz="78108"/>
  </p:normalViewPr>
  <p:slideViewPr>
    <p:cSldViewPr snapToGrid="0" snapToObjects="1">
      <p:cViewPr varScale="1">
        <p:scale>
          <a:sx n="51" d="100"/>
          <a:sy n="51" d="100"/>
        </p:scale>
        <p:origin x="13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font" Target="fonts/font13.fntdata"/><Relationship Id="rId33" Type="http://schemas.openxmlformats.org/officeDocument/2006/relationships/font" Target="fonts/font14.fntdata"/><Relationship Id="rId34" Type="http://schemas.openxmlformats.org/officeDocument/2006/relationships/font" Target="fonts/font15.fntdata"/><Relationship Id="rId35" Type="http://schemas.openxmlformats.org/officeDocument/2006/relationships/font" Target="fonts/font16.fntdata"/><Relationship Id="rId36" Type="http://schemas.openxmlformats.org/officeDocument/2006/relationships/font" Target="fonts/font17.fntdata"/><Relationship Id="rId37" Type="http://schemas.openxmlformats.org/officeDocument/2006/relationships/font" Target="fonts/font18.fntdata"/><Relationship Id="rId38" Type="http://schemas.openxmlformats.org/officeDocument/2006/relationships/font" Target="fonts/font19.fntdata"/><Relationship Id="rId39" Type="http://schemas.openxmlformats.org/officeDocument/2006/relationships/font" Target="fonts/font20.fntdata"/><Relationship Id="rId40" Type="http://schemas.openxmlformats.org/officeDocument/2006/relationships/font" Target="fonts/font21.fntdata"/><Relationship Id="rId41" Type="http://schemas.openxmlformats.org/officeDocument/2006/relationships/font" Target="fonts/font22.fntdata"/><Relationship Id="rId42" Type="http://schemas.openxmlformats.org/officeDocument/2006/relationships/font" Target="fonts/font23.fntdata"/><Relationship Id="rId43" Type="http://schemas.openxmlformats.org/officeDocument/2006/relationships/font" Target="fonts/font24.fntdata"/><Relationship Id="rId44" Type="http://schemas.openxmlformats.org/officeDocument/2006/relationships/font" Target="fonts/font25.fntdata"/><Relationship Id="rId45" Type="http://schemas.openxmlformats.org/officeDocument/2006/relationships/font" Target="fonts/font26.fntdata"/><Relationship Id="rId46" Type="http://schemas.openxmlformats.org/officeDocument/2006/relationships/font" Target="fonts/font27.fnt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is my own Phase 2 schema, unchanged. The problem Phase 5 solves is the data that does not fit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D582C-B91B-2B4F-BB3D-6012B562093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16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 am Minh. My project is a subject-tracking system for a Phase 1 clinical trial. Phases 1 to 4 built the relational core; Phase 5 adds JSON case report forms, consent PDFs and free-text adverse events, a web app with two roles, three reports with exports, automation and an AI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parts. I will go through them in this order and then demonstrate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rubric in one slide: integration 30, reports and automation 40, presentation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reports and the automation are the 40-mark criterion. Everything here is in the git repository with numbered SQL scripts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me about any of these. The common idea: the database protects itself, so the app cannot leak or corrupt data even with a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brief requires AI use to be acknowledged. I decided what each part should do, reviewed every file, ran it on my machine and wrote tests; the tests found real bugs, which is the best evidence I understand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live demo, about seven minutes, in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4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8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eg"/><Relationship Id="rId3" Type="http://schemas.openxmlformats.org/officeDocument/2006/relationships/image" Target="../media/image1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eg"/><Relationship Id="rId3" Type="http://schemas.openxmlformats.org/officeDocument/2006/relationships/image" Target="../media/image1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eg"/><Relationship Id="rId3" Type="http://schemas.openxmlformats.org/officeDocument/2006/relationships/image" Target="../media/image1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It’s what you make it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Facilities </a:t>
            </a:r>
            <a:br>
              <a:rPr lang="en-US" dirty="0"/>
            </a:br>
            <a:r>
              <a:rPr lang="en-US" dirty="0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empowers you to </a:t>
            </a:r>
            <a:br>
              <a:rPr lang="en-US" dirty="0"/>
            </a:br>
            <a:r>
              <a:rPr lang="en-US" dirty="0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40E8D6-300A-EC4E-9A82-8E5FF0C767D0}"/>
              </a:ext>
            </a:extLst>
          </p:cNvPr>
          <p:cNvSpPr/>
          <p:nvPr userDrawn="1"/>
        </p:nvSpPr>
        <p:spPr>
          <a:xfrm>
            <a:off x="-1" y="0"/>
            <a:ext cx="12192001" cy="1202635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1" i="0" dirty="0">
              <a:latin typeface="Montserrat" pitchFamily="2" charset="77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EB252FA-DA85-3A44-94E6-B57BDF7F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64" y="1"/>
            <a:ext cx="10515600" cy="1202633"/>
          </a:xfrm>
        </p:spPr>
        <p:txBody>
          <a:bodyPr lIns="90000" tIns="46800" rIns="90000" bIns="46800">
            <a:normAutofit/>
          </a:bodyPr>
          <a:lstStyle>
            <a:lvl1pPr>
              <a:defRPr sz="3200" cap="none" baseline="0">
                <a:solidFill>
                  <a:srgbClr val="3436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32B33-4CDD-1249-850C-3BBEBF4C6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664" y="1654629"/>
            <a:ext cx="10790189" cy="3875314"/>
          </a:xfrm>
        </p:spPr>
        <p:txBody>
          <a:bodyPr/>
          <a:lstStyle>
            <a:lvl1pPr>
              <a:defRPr sz="2000" b="1" i="0">
                <a:solidFill>
                  <a:srgbClr val="343638"/>
                </a:solidFill>
                <a:latin typeface="Montserrat" pitchFamily="2" charset="77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360363" indent="-1809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533400" indent="-1301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714375" indent="-1809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8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887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85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436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040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302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5952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 descr="Swinburne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519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484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5040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AMDC Fin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1"/>
            <a:ext cx="11488755" cy="2041635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3293128"/>
            <a:ext cx="11496164" cy="1404996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81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aper">
    <p:bg>
      <p:bgPr>
        <a:blipFill dpi="0" rotWithShape="1">
          <a:blip r:embed="rId2" cstate="screen">
            <a:alphaModFix amt="9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25343"/>
            <a:ext cx="9144000" cy="2426140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>
                <a:solidFill>
                  <a:schemeClr val="bg1">
                    <a:lumMod val="95000"/>
                  </a:schemeClr>
                </a:solidFill>
              </a:rPr>
              <a:t>CRICOS</a:t>
            </a:r>
            <a:r>
              <a:rPr lang="en-AU" sz="800" baseline="0">
                <a:solidFill>
                  <a:schemeClr val="bg1">
                    <a:lumMod val="95000"/>
                  </a:schemeClr>
                </a:solidFill>
              </a:rPr>
              <a:t> 00111D</a:t>
            </a:r>
          </a:p>
          <a:p>
            <a:pPr algn="r"/>
            <a:r>
              <a:rPr lang="en-AU" sz="800" baseline="0">
                <a:solidFill>
                  <a:schemeClr val="bg1">
                    <a:lumMod val="95000"/>
                  </a:schemeClr>
                </a:solidFill>
              </a:rPr>
              <a:t>TOID 3069</a:t>
            </a:r>
            <a:endParaRPr lang="en-AU" sz="80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322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Swinburne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1623" y="1290909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600" strike="noStrike" cap="all" baseline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623" y="3586928"/>
            <a:ext cx="11488755" cy="2388859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1" name="Picture 10" descr="KNOWING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pic>
        <p:nvPicPr>
          <p:cNvPr id="12" name="Picture 11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>
                <a:solidFill>
                  <a:schemeClr val="tx1"/>
                </a:solidFill>
              </a:rPr>
              <a:t>CRICOS</a:t>
            </a:r>
            <a:r>
              <a:rPr lang="en-AU" sz="800" baseline="0">
                <a:solidFill>
                  <a:schemeClr val="tx1"/>
                </a:solidFill>
              </a:rPr>
              <a:t> 00111D</a:t>
            </a:r>
          </a:p>
          <a:p>
            <a:pPr algn="r"/>
            <a:r>
              <a:rPr lang="en-AU" sz="800" baseline="0">
                <a:solidFill>
                  <a:schemeClr val="tx1"/>
                </a:solidFill>
              </a:rPr>
              <a:t>TOID 3069</a:t>
            </a:r>
            <a:endParaRPr lang="en-AU" sz="800">
              <a:solidFill>
                <a:schemeClr val="tx1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4212" y="6176964"/>
            <a:ext cx="2743200" cy="5445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12817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385466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4010765"/>
            <a:ext cx="11488755" cy="84558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4873073"/>
            <a:ext cx="11496165" cy="11414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0" y="3839859"/>
            <a:ext cx="12192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436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778933" y="6450904"/>
            <a:ext cx="9487360" cy="1"/>
          </a:xfrm>
          <a:prstGeom prst="line">
            <a:avLst/>
          </a:prstGeom>
          <a:ln w="12700">
            <a:solidFill>
              <a:srgbClr val="FF2D0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 lvl="0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sz="1200"/>
          </a:p>
        </p:txBody>
      </p:sp>
      <p:pic>
        <p:nvPicPr>
          <p:cNvPr id="9" name="image3.png" descr="Swinburne Logo RGB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7780" y="4471"/>
            <a:ext cx="1010040" cy="15150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image2.png" descr="KNOWING Logo RGB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6297" y="5709635"/>
            <a:ext cx="1010040" cy="75753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34878869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823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BBEB8-76C6-094B-A5EC-4706ECE8DB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75"/>
          <a:stretch/>
        </p:blipFill>
        <p:spPr>
          <a:xfrm>
            <a:off x="9671836" y="0"/>
            <a:ext cx="2168542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339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1371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431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31066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4253F-B2AB-5B44-A09D-4CA090ADA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2"/>
          <a:stretch/>
        </p:blipFill>
        <p:spPr>
          <a:xfrm>
            <a:off x="9661240" y="10836"/>
            <a:ext cx="2173849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09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1680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1920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theme" Target="../theme/theme2.xml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theme" Target="../theme/theme3.xml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theme" Target="../theme/theme4.xml"/><Relationship Id="rId10" Type="http://schemas.openxmlformats.org/officeDocument/2006/relationships/image" Target="../media/image18.png"/><Relationship Id="rId11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  <p:sldLayoutId id="2147483690" r:id="rId19"/>
    <p:sldLayoutId id="214748370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7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2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90000" rIns="91440" bIns="9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5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0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924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0ED039-B6C7-C14D-95AB-6BCD2DF2F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80" y="1855804"/>
            <a:ext cx="6089790" cy="92333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sz="2800" b="0">
                <a:solidFill>
                  <a:srgbClr val="3D3A3B"/>
                </a:solidFill>
                <a:latin typeface="Barlow"/>
              </a:rPr>
              <a:t>Clinical Trial Tracker: a smart data system for a Phase 1 trial</a:t>
            </a:r>
            <a:endParaRPr lang="en-US" sz="3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6E85D9-D22E-4130-B927-E9BBB6DBC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280" y="3748813"/>
            <a:ext cx="4265010" cy="1049218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D3A3B"/>
                </a:solidFill>
                <a:latin typeface="Open Sans"/>
              </a:rPr>
              <a:t>COS20015 Fundamentals of Data Management, Project Phase 5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3D3A3B"/>
                </a:solidFill>
                <a:latin typeface="Open Sans"/>
              </a:rPr>
              <a:t>Ha Minh Nguyen, 105304697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D3A3B"/>
                </a:solidFill>
                <a:latin typeface="Open Sans"/>
              </a:rPr>
              <a:t>Structured, semi-structured and unstructured data in one MySQL system</a:t>
            </a:r>
          </a:p>
        </p:txBody>
      </p:sp>
    </p:spTree>
    <p:extLst>
      <p:ext uri="{BB962C8B-B14F-4D97-AF65-F5344CB8AC3E}">
        <p14:creationId xmlns:p14="http://schemas.microsoft.com/office/powerpoint/2010/main" val="275786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1B0A-42D8-844A-BB64-A233C4B48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B1073-2D2E-EA46-B03F-CF506B87A6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What was built on top of Phases 1 to 4, in the order I will show it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9768" y="2103120"/>
            <a:ext cx="3063240" cy="173736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6928" y="221284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19456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2788920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Structured tables, JSON eCRF forms validated by MySQL, consent PDFs and free-text adverse events, searchable and cross-checked.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3028" y="2103120"/>
            <a:ext cx="3063240" cy="173736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790188" y="221284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1668" y="219456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0188" y="2596896"/>
            <a:ext cx="2788920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PHP web app on MySQL 8. Admin and User roles enforced twice: in PHP and by a separate MySQL account per role.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2103120"/>
            <a:ext cx="3063240" cy="173736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013448" y="221284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219456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596896"/>
            <a:ext cx="2788920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Three reports combining all three data types, with filters, sorting, CSV, PDF and email export.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4000500"/>
            <a:ext cx="3063240" cy="173736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6928" y="411022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09194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Automation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94276"/>
            <a:ext cx="2788920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A nightly MySQL event runs 9 data checks; Windows Task Scheduler sends scheduled report emails.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3028" y="4000500"/>
            <a:ext cx="3063240" cy="173736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790188" y="411022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1668" y="409194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AI feature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0188" y="4494276"/>
            <a:ext cx="2788920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Gemini turns adverse-event text into structured fields; MySQL re-validates, cross-checks, a person approves.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000500"/>
            <a:ext cx="3063240" cy="173736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7013448" y="411022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4091940"/>
            <a:ext cx="2377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4494276"/>
            <a:ext cx="2788920" cy="118871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SQL test files per script and an 86-check smoke test over HTTP. Tests found real bugs before the demo.</a:t>
            </a:r>
          </a:p>
        </p:txBody>
      </p:sp>
    </p:spTree>
    <p:extLst>
      <p:ext uri="{BB962C8B-B14F-4D97-AF65-F5344CB8AC3E}">
        <p14:creationId xmlns:p14="http://schemas.microsoft.com/office/powerpoint/2010/main" val="196939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1896-B92F-E740-936F-9B599B806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Project and data sources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A05A9-373C-0045-BD46-B81230D24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A Phase 1 trial produces three kinds of data; Phases 1 to 4 handled only the first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9768" y="2103120"/>
            <a:ext cx="4480560" cy="36576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420624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The base: Phases 1 to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24328"/>
            <a:ext cx="4206240" cy="3017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64592" indent="-164592">
              <a:spcAft>
                <a:spcPts val="500"/>
              </a:spcAft>
              <a:buChar char="–"/>
            </a:pPr>
            <a:r>
              <a:rPr sz="1150" b="0">
                <a:solidFill>
                  <a:srgbClr val="3D3A3B"/>
                </a:solidFill>
                <a:latin typeface="Open Sans"/>
              </a:rPr>
              <a:t>30 subjects, 5 sites, 114 visits, 408 lab results, 60 doses, 19 adverse events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50" b="0">
                <a:solidFill>
                  <a:srgbClr val="3D3A3B"/>
                </a:solidFill>
                <a:latin typeface="Open Sans"/>
              </a:rPr>
              <a:t>10 relational tables designed in Phase 2 and built in Phase 3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50" b="0">
                <a:solidFill>
                  <a:srgbClr val="3D3A3B"/>
                </a:solidFill>
                <a:latin typeface="Open Sans"/>
              </a:rPr>
              <a:t>Phase 3 questions: who got StudyDrugX at 200 mg or more; who had a Moderate or Severe adverse event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50" b="0">
                <a:solidFill>
                  <a:srgbClr val="3D3A3B"/>
                </a:solidFill>
                <a:latin typeface="Open Sans"/>
              </a:rPr>
              <a:t>Phase 4: A UNION B = 14 subjects, A INTERSECT B = S023 and S025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50" b="0">
                <a:solidFill>
                  <a:srgbClr val="3D3A3B"/>
                </a:solidFill>
                <a:latin typeface="Open Sans"/>
              </a:rPr>
              <a:t>None of the 10 tables changed in Phase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103120"/>
            <a:ext cx="4864608" cy="1133856"/>
          </a:xfrm>
          <a:prstGeom prst="rect">
            <a:avLst/>
          </a:prstGeom>
          <a:solidFill>
            <a:srgbClr val="E3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212080" y="2231136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1F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2194560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F4F8A"/>
                </a:solidFill>
                <a:latin typeface="Barlow"/>
              </a:rPr>
              <a:t>Tables, keys, constraints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560320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Already solved. Everything every query needs stays relational.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364991"/>
            <a:ext cx="4864608" cy="1133856"/>
          </a:xfrm>
          <a:prstGeom prst="rect">
            <a:avLst/>
          </a:prstGeom>
          <a:solidFill>
            <a:srgbClr val="F0E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212080" y="3493008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6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SEMI-STRUCTURED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3456432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6A3FA0"/>
                </a:solidFill>
                <a:latin typeface="Barlow"/>
              </a:rPr>
              <a:t>eCRF forms as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822191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The visit form changes version mid-trial; a new field must not need a migration. Phase 1 already sketched the JSON Schema.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4626864"/>
            <a:ext cx="4864608" cy="1133856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5212080" y="4754879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8A4B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Open Sans"/>
              </a:rPr>
              <a:t>UNSTRUCTURED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18303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8A4B10"/>
                </a:solidFill>
                <a:latin typeface="Barlow"/>
              </a:rPr>
              <a:t>Consent PDFs, adverse-event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084064"/>
            <a:ext cx="45720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Signed documents and clinician narratives that must be searchable, verifiable and, ideally, turned into facts.</a:t>
            </a:r>
          </a:p>
        </p:txBody>
      </p:sp>
    </p:spTree>
    <p:extLst>
      <p:ext uri="{BB962C8B-B14F-4D97-AF65-F5344CB8AC3E}">
        <p14:creationId xmlns:p14="http://schemas.microsoft.com/office/powerpoint/2010/main" val="219375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AB83-F7B4-2C43-BEA5-E416856D0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Phase 5 requirements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73DD8-685B-B243-B018-D9338F9F7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Every requirement of the Phase 5 brief, mapped to what the system does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9768" y="2103120"/>
            <a:ext cx="4681728" cy="11430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349300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Integrate three data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14215" y="2231136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D22630"/>
                </a:solidFill>
                <a:latin typeface="Open Sans"/>
              </a:rPr>
              <a:t>30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42032"/>
            <a:ext cx="440740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VisitECRF (JSON, schema CHECK, trigger, generated columns), ConsentDocument (hash, extracted text, FULLTEXT), FULLTEXT on AE narratives.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103120"/>
            <a:ext cx="4681728" cy="11430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04104" y="2194560"/>
            <a:ext cx="349300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Role-based interface on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542032"/>
            <a:ext cx="440740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PHP 8 app. Admin sees identities and edits JSON; User sees subject codes only. Each role is a different MySQL login.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383279"/>
            <a:ext cx="4681728" cy="11430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3474720"/>
            <a:ext cx="349300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Three meaningful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4215" y="3511296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D22630"/>
                </a:solidFill>
                <a:latin typeface="Open Sans"/>
              </a:rPr>
              <a:t>40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22191"/>
            <a:ext cx="440740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Safety review, Site activity and exposure, Consent compliance. Filters, sorting, CSV, PDF, email.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3383279"/>
            <a:ext cx="4681728" cy="11430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04104" y="3474720"/>
            <a:ext cx="349300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Automated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3822191"/>
            <a:ext cx="440740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MySQL EVENT and stored procedure nightly; Task Scheduler every 15 min for scheduled emails and AI extraction.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4663440"/>
            <a:ext cx="4681728" cy="11430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754879"/>
            <a:ext cx="349300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AI-driven 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102352"/>
            <a:ext cx="440740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Adverse-event narratives to structured fields, validated by the database and approved by an Admin.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4663440"/>
            <a:ext cx="4681728" cy="114300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04104" y="4754879"/>
            <a:ext cx="349300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Explain and demonstrate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51392" y="4791455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D22630"/>
                </a:solidFill>
                <a:latin typeface="Open Sans"/>
              </a:rPr>
              <a:t>30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104" y="5102352"/>
            <a:ext cx="4407408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Live demo of each part, design decisions justified, AI use acknowledged.</a:t>
            </a:r>
          </a:p>
        </p:txBody>
      </p:sp>
    </p:spTree>
    <p:extLst>
      <p:ext uri="{BB962C8B-B14F-4D97-AF65-F5344CB8AC3E}">
        <p14:creationId xmlns:p14="http://schemas.microsoft.com/office/powerpoint/2010/main" val="328431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3DB9-F778-8148-808A-075D79C4A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The system today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A9732-00B6-434C-AACB-1085A61D9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What exists today, with the numbers from the live database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CCD1-78F3-7141-8323-B2EA5D33BF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B6B6E"/>
                </a:solidFill>
                <a:latin typeface="Open Sans"/>
              </a:rPr>
              <a:t>Counts as at 22 October 2026. All data is synthetic; no real people.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9768" y="2057400"/>
            <a:ext cx="1508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D22630"/>
                </a:solidFill>
                <a:latin typeface="Barlow"/>
              </a:rPr>
              <a:t>102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587752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JSON eCRF forms, 100% of completed visits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9967" y="2057400"/>
            <a:ext cx="1508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D22630"/>
                </a:solidFill>
                <a:latin typeface="Barlow"/>
              </a:rPr>
              <a:t>34 /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7" y="2587752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consent PDFs that agree with their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057400"/>
            <a:ext cx="1508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D22630"/>
                </a:solidFill>
                <a:latin typeface="Barlow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587752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reports, four outputs each: screen, CSV, PDF,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2057400"/>
            <a:ext cx="1508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D22630"/>
                </a:solidFill>
                <a:latin typeface="Barlow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587752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automated rules, 26 open findings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057400"/>
            <a:ext cx="1508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D22630"/>
                </a:solidFill>
                <a:latin typeface="Barlow"/>
              </a:rPr>
              <a:t>19 / 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587752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adverse events extracted by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57400"/>
            <a:ext cx="1508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D22630"/>
                </a:solidFill>
                <a:latin typeface="Barlow"/>
              </a:rPr>
              <a:t>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587752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smoke-test checks, all passing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3291840"/>
            <a:ext cx="9509760" cy="24688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401568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Database (MySQL 8.0)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49039"/>
            <a:ext cx="29260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Scripts 06 to 13: schema, data load, security, views, automation, privileges, schedules, AI</a:t>
            </a:r>
          </a:p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Test file beside each: 06b, 10b, 12b, 13b</a:t>
            </a:r>
          </a:p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Roles ctt_admin and ctt_reader; audit log append-only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401568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Web app (PHP 8.2)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749039"/>
            <a:ext cx="29260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Dashboard, Subjects, eCRFs, Consents, Search, Reports, Automation, AI review, Users, Audit log</a:t>
            </a:r>
          </a:p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Exports: CSV with BOM, PDF with FPDF, email via Gmail SMTP</a:t>
            </a:r>
          </a:p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60 pages of code, one report definition 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401568"/>
            <a:ext cx="29260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Automation and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49039"/>
            <a:ext cx="292608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ev_nightly_checks at 02:00; run_automation.php every 15 min</a:t>
            </a:r>
          </a:p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Python generator for eCRFs and PDFs (seed 20015)</a:t>
            </a:r>
          </a:p>
          <a:p>
            <a:pPr marL="164592" indent="-164592">
              <a:spcAft>
                <a:spcPts val="400"/>
              </a:spcAft>
              <a:buChar char="–"/>
            </a:pPr>
            <a:r>
              <a:rPr sz="1050" b="0">
                <a:solidFill>
                  <a:srgbClr val="3D3A3B"/>
                </a:solidFill>
                <a:latin typeface="Open Sans"/>
              </a:rPr>
              <a:t>PowerShell setup for accounts and the scheduled task</a:t>
            </a:r>
          </a:p>
        </p:txBody>
      </p:sp>
    </p:spTree>
    <p:extLst>
      <p:ext uri="{BB962C8B-B14F-4D97-AF65-F5344CB8AC3E}">
        <p14:creationId xmlns:p14="http://schemas.microsoft.com/office/powerpoint/2010/main" val="4041567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Design decisions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Four decisions that shape the whole system, and what each one cost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9768" y="2103120"/>
            <a:ext cx="4681728" cy="17830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566928" y="221284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194560"/>
            <a:ext cx="399592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Validation lives in the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96896"/>
            <a:ext cx="4407408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JSON_SCHEMA_VALID CHECK plus a trigger decide what an eCRF may contain; the app just shows MySQL's reason.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Trade-off: MySQL only speaks JSON Schema Draft 4 and ignores "format", so dates use a regex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103120"/>
            <a:ext cx="4681728" cy="17830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404104" y="221284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3" y="2194560"/>
            <a:ext cx="399592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The role is a MySQL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4104" y="2596896"/>
            <a:ext cx="4407408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A User session connects as app_reader, which can read only coded views. A forgotten PHP check cannot leak a name.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Trade-off: three logins to manage; a setup script generates and rotates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4023360"/>
            <a:ext cx="4681728" cy="17830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66928" y="413308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4114800"/>
            <a:ext cx="399592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One report definition, four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17136"/>
            <a:ext cx="4407408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Screen, CSV, PDF and email call the same validated request and SQL, so an export can never disagree with the screen.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Trade-off: totals must come from SQL with sites collapsed; distinct counts cannot be summed in PHP.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66944" y="4023360"/>
            <a:ext cx="4681728" cy="17830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404104" y="4133088"/>
            <a:ext cx="329184" cy="32918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arlow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3" y="4114800"/>
            <a:ext cx="3995928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Least privilege, append-only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4517136"/>
            <a:ext cx="4407408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50" b="0">
                <a:solidFill>
                  <a:srgbClr val="3D3A3B"/>
                </a:solidFill>
                <a:latin typeface="Open Sans"/>
              </a:rPr>
              <a:t>Admin writes only the columns the app writes and has no DELETE. Audit rows go through a DEFINER procedure.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B6B6E"/>
                </a:solidFill>
                <a:latin typeface="Open Sans"/>
              </a:rPr>
              <a:t>Trade-off: tests cannot clean up audit rows, so they deactivate test users and count only their own rows.</a:t>
            </a:r>
          </a:p>
        </p:txBody>
      </p:sp>
    </p:spTree>
    <p:extLst>
      <p:ext uri="{BB962C8B-B14F-4D97-AF65-F5344CB8AC3E}">
        <p14:creationId xmlns:p14="http://schemas.microsoft.com/office/powerpoint/2010/main" val="201455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CD25-C8A7-B547-A638-0B9902A6F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80" y="449927"/>
            <a:ext cx="9687755" cy="1569660"/>
          </a:xfrm>
        </p:spPr>
        <p:txBody>
          <a:bodyPr/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Technologies and development process</a:t>
            </a:r>
            <a:endParaRPr lang="en-US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82519-BAB0-C54F-8481-4E80B23DEF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How it was built and tested, and the bugs the tests caught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6FC31-7561-C34A-89BD-0FA84C705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6B6B6E"/>
                </a:solidFill>
                <a:latin typeface="Open Sans"/>
              </a:rPr>
              <a:t>AI use: Claude as a coding assistant for SQL, generator and PHP; designed, reviewed, run and tested by me. Gemini is used inside the product. FPDF 1.9.0 is a vendored third-party library.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9768" y="2103120"/>
            <a:ext cx="3931920" cy="36118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3657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3657600" cy="3017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marL="164592" indent="-164592">
              <a:spcAft>
                <a:spcPts val="500"/>
              </a:spcAft>
              <a:buChar char="–"/>
            </a:pPr>
            <a:r>
              <a:rPr sz="1100" b="0">
                <a:solidFill>
                  <a:srgbClr val="3D3A3B"/>
                </a:solidFill>
                <a:latin typeface="Open Sans"/>
              </a:rPr>
              <a:t>Reload Phase 3 data, confirm the Phase 4 answers still match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00" b="0">
                <a:solidFill>
                  <a:srgbClr val="3D3A3B"/>
                </a:solidFill>
                <a:latin typeface="Open Sans"/>
              </a:rPr>
              <a:t>Additive schema (06), generated data (07), security (08)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00" b="0">
                <a:solidFill>
                  <a:srgbClr val="3D3A3B"/>
                </a:solidFill>
                <a:latin typeface="Open Sans"/>
              </a:rPr>
              <a:t>Web app, then reports and exports, then automation and AI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00" b="0">
                <a:solidFill>
                  <a:srgbClr val="3D3A3B"/>
                </a:solidFill>
                <a:latin typeface="Open Sans"/>
              </a:rPr>
              <a:t>A test file beside each SQL script; an 86-check smoke test drives both roles over HTTP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00" b="0">
                <a:solidFill>
                  <a:srgbClr val="3D3A3B"/>
                </a:solidFill>
                <a:latin typeface="Open Sans"/>
              </a:rPr>
              <a:t>git with conventional commits; secrets git-ignored</a:t>
            </a:r>
          </a:p>
          <a:p>
            <a:pPr marL="164592" indent="-164592">
              <a:spcAft>
                <a:spcPts val="500"/>
              </a:spcAft>
              <a:buChar char="–"/>
            </a:pPr>
            <a:r>
              <a:rPr sz="1100" b="0">
                <a:solidFill>
                  <a:srgbClr val="3D3A3B"/>
                </a:solidFill>
                <a:latin typeface="Open Sans"/>
              </a:rPr>
              <a:t>Built with Claude as a coding assistant, reviewed and run by 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2103120"/>
            <a:ext cx="5413248" cy="84124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63440" y="2176272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22630"/>
                </a:solidFill>
                <a:latin typeface="Barlow"/>
              </a:rPr>
              <a:t>Three-valued logic in a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32303"/>
            <a:ext cx="512064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D3A3B"/>
                </a:solidFill>
                <a:latin typeface="Open Sans"/>
              </a:rPr>
              <a:t>A Weekly schedule with no weekday was accepted: NULL BETWEEN 1 AND 7 is UNKNOWN, and a CHECK only rejects FALSE. Fixed with COALESCE. Same lesson as Phase 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3026663"/>
            <a:ext cx="5413248" cy="84124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63440" y="3099815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22630"/>
                </a:solidFill>
                <a:latin typeface="Barlow"/>
              </a:rPr>
              <a:t>MySQL ignores JSON Schema "format"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355847"/>
            <a:ext cx="512064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D3A3B"/>
                </a:solidFill>
                <a:latin typeface="Open Sans"/>
              </a:rPr>
              <a:t>An invalid date passed validation. Dates now use a regex pattern; the test proves the difference.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50207"/>
            <a:ext cx="5413248" cy="84124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3440" y="4023359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22630"/>
                </a:solidFill>
                <a:latin typeface="Barlow"/>
              </a:rPr>
              <a:t>Generated column hid the real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79392"/>
            <a:ext cx="512064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D3A3B"/>
                </a:solidFill>
                <a:latin typeface="Open Sans"/>
              </a:rPr>
              <a:t>An over-long AI value failed as "data too long" before the schema CHECK could explain. LEFT() in the column fixed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4873751"/>
            <a:ext cx="5413248" cy="841248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40" y="4946903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22630"/>
                </a:solidFill>
                <a:latin typeface="Barlow"/>
              </a:rPr>
              <a:t>Free-tier rate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202936"/>
            <a:ext cx="512064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50" b="0">
                <a:solidFill>
                  <a:srgbClr val="3D3A3B"/>
                </a:solidFill>
                <a:latin typeface="Open Sans"/>
              </a:rPr>
              <a:t>Gemini allows 15 requests a minute; the first batch stopped at 15. The runner now waits the delay the API asks for and retries once.</a:t>
            </a:r>
          </a:p>
        </p:txBody>
      </p:sp>
    </p:spTree>
    <p:extLst>
      <p:ext uri="{BB962C8B-B14F-4D97-AF65-F5344CB8AC3E}">
        <p14:creationId xmlns:p14="http://schemas.microsoft.com/office/powerpoint/2010/main" val="309837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E9CB-1421-46C3-9F86-94F2EDD9B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80" y="449927"/>
            <a:ext cx="9687755" cy="156966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Live demonstration</a:t>
            </a:r>
            <a:endParaRPr lang="en-AU" dirty="0"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DE2E1-68E0-4489-B057-1843A213D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6B6B6E"/>
                </a:solidFill>
                <a:latin typeface="Open Sans"/>
              </a:rPr>
              <a:t>Runs on my laptop: XAMPP Apache, MySQL 8.0, Windows Task Scheduler, Gmail and the Gemini API</a:t>
            </a:r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29768" y="2103120"/>
            <a:ext cx="1719072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9496" y="2176272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450591"/>
            <a:ext cx="1499616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10 tables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102 JSON forms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34 PDFs, 19 narratives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85415" y="2487168"/>
            <a:ext cx="164592" cy="182880"/>
          </a:xfrm>
          <a:prstGeom prst="rightArrow">
            <a:avLst/>
          </a:prstGeom>
          <a:solidFill>
            <a:srgbClr val="D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39" y="2103120"/>
            <a:ext cx="1719072" cy="960120"/>
          </a:xfrm>
          <a:prstGeom prst="rect">
            <a:avLst/>
          </a:prstGeom>
          <a:solidFill>
            <a:srgbClr val="3D3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487168" y="2176272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Barlow"/>
              </a:rPr>
              <a:t>MySQL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450591"/>
            <a:ext cx="1499616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schema CHECKs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roles, audit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Open Sans"/>
              </a:rPr>
              <a:t>nightly EVENT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33087" y="2487168"/>
            <a:ext cx="164592" cy="182880"/>
          </a:xfrm>
          <a:prstGeom prst="rightArrow">
            <a:avLst/>
          </a:prstGeom>
          <a:solidFill>
            <a:srgbClr val="D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2103120"/>
            <a:ext cx="1719072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4840" y="2176272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PHP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50591"/>
            <a:ext cx="1499616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Admin and User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reports, exports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59" y="2487168"/>
            <a:ext cx="164592" cy="182880"/>
          </a:xfrm>
          <a:prstGeom prst="rightArrow">
            <a:avLst/>
          </a:prstGeom>
          <a:solidFill>
            <a:srgbClr val="D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3" y="2103120"/>
            <a:ext cx="1719072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82512" y="2176272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Task Scheduler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450591"/>
            <a:ext cx="1499616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every 15 min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emails, AI, catch-up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28431" y="2487168"/>
            <a:ext cx="164592" cy="182880"/>
          </a:xfrm>
          <a:prstGeom prst="rightArrow">
            <a:avLst/>
          </a:prstGeom>
          <a:solidFill>
            <a:srgbClr val="D2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0456" y="2103120"/>
            <a:ext cx="1719072" cy="96012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330183" y="2176272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3D3A3B"/>
                </a:solidFill>
                <a:latin typeface="Barlow"/>
              </a:rPr>
              <a:t>Gemini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2450591"/>
            <a:ext cx="1499616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structured fields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6B6B6E"/>
                </a:solidFill>
                <a:latin typeface="Open Sans"/>
              </a:rPr>
              <a:t>human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" y="3291840"/>
            <a:ext cx="9509760" cy="24688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59" y="3383280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3D3A3B"/>
                </a:solidFill>
                <a:latin typeface="Barlow"/>
              </a:rPr>
              <a:t>Demo script, about 7 minutes</a:t>
            </a:r>
          </a:p>
        </p:txBody>
      </p:sp>
      <p:sp>
        <p:nvSpPr>
          <p:cNvPr id="26" name="Oval 25"/>
          <p:cNvSpPr/>
          <p:nvPr/>
        </p:nvSpPr>
        <p:spPr>
          <a:xfrm>
            <a:off x="594359" y="3767327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3749039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D3A3B"/>
                </a:solidFill>
                <a:latin typeface="Barlow"/>
              </a:rPr>
              <a:t>eCRF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7" y="3749039"/>
            <a:ext cx="74980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Set heart rate to 400: MySQL refuses. Set 130: valid, but abnormal.</a:t>
            </a:r>
          </a:p>
        </p:txBody>
      </p:sp>
      <p:sp>
        <p:nvSpPr>
          <p:cNvPr id="29" name="Oval 28"/>
          <p:cNvSpPr/>
          <p:nvPr/>
        </p:nvSpPr>
        <p:spPr>
          <a:xfrm>
            <a:off x="594359" y="4178807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19" y="4160520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D3A3B"/>
                </a:solidFill>
                <a:latin typeface="Barlow"/>
              </a:rPr>
              <a:t>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7" y="4160520"/>
            <a:ext cx="74980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Run checks now: a High finding appears. Acknowledge it. Fix the data, run again: resolved.</a:t>
            </a:r>
          </a:p>
        </p:txBody>
      </p:sp>
      <p:sp>
        <p:nvSpPr>
          <p:cNvPr id="32" name="Oval 31"/>
          <p:cNvSpPr/>
          <p:nvPr/>
        </p:nvSpPr>
        <p:spPr>
          <a:xfrm>
            <a:off x="594359" y="4590288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" y="4572000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D3A3B"/>
                </a:solidFill>
                <a:latin typeface="Barlow"/>
              </a:rPr>
              <a:t>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04287" y="4572000"/>
            <a:ext cx="74980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Safety review: 14, Both = S023 and S025. Consent at 1 Apr: 16 gaps. Schedule it, Send now, open Gmail.</a:t>
            </a:r>
          </a:p>
        </p:txBody>
      </p:sp>
      <p:sp>
        <p:nvSpPr>
          <p:cNvPr id="35" name="Oval 34"/>
          <p:cNvSpPr/>
          <p:nvPr/>
        </p:nvSpPr>
        <p:spPr>
          <a:xfrm>
            <a:off x="594359" y="5001768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19" y="4983480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D3A3B"/>
                </a:solidFill>
                <a:latin typeface="Barlow"/>
              </a:rPr>
              <a:t>AI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7" y="4983480"/>
            <a:ext cx="74980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An ALT narrative: Gemini's fields, cross-check badges, decide it live.</a:t>
            </a:r>
          </a:p>
        </p:txBody>
      </p:sp>
      <p:sp>
        <p:nvSpPr>
          <p:cNvPr id="38" name="Oval 37"/>
          <p:cNvSpPr/>
          <p:nvPr/>
        </p:nvSpPr>
        <p:spPr>
          <a:xfrm>
            <a:off x="594359" y="5413248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Barlow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19" y="5394960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3D3A3B"/>
                </a:solidFill>
                <a:latin typeface="Barlow"/>
              </a:rPr>
              <a:t>User role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7" y="5394960"/>
            <a:ext cx="749807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3D3A3B"/>
                </a:solidFill>
                <a:latin typeface="Open Sans"/>
              </a:rPr>
              <a:t>Codes only, no names; Automation read-only; AI review refused. Then the audit log, which Admin cannot delete.</a:t>
            </a:r>
          </a:p>
        </p:txBody>
      </p:sp>
    </p:spTree>
    <p:extLst>
      <p:ext uri="{BB962C8B-B14F-4D97-AF65-F5344CB8AC3E}">
        <p14:creationId xmlns:p14="http://schemas.microsoft.com/office/powerpoint/2010/main" val="203205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BC5A-8A08-8341-A806-3DDF5108F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239" y="2785803"/>
            <a:ext cx="9687755" cy="584775"/>
          </a:xfrm>
        </p:spPr>
        <p:txBody>
          <a:bodyPr/>
          <a:lstStyle/>
          <a:p>
            <a:pPr algn="ctr">
              <a:spcAft>
                <a:spcPts val="0"/>
              </a:spcAft>
            </a:pPr>
            <a:r>
              <a:rPr sz="3200" b="0">
                <a:solidFill>
                  <a:srgbClr val="3D3A3B"/>
                </a:solidFill>
                <a:latin typeface="Barlow"/>
              </a:rPr>
              <a:t>Thank you.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9875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B6B6E"/>
                </a:solidFill>
                <a:latin typeface="Open Sans"/>
              </a:rPr>
              <a:t>Ha Minh Nguyen, 105304697  |  COS20015 Project Phase 5  |  github.com/hmnguyen2805/cos20015-phase5</a:t>
            </a:r>
          </a:p>
        </p:txBody>
      </p:sp>
    </p:spTree>
    <p:extLst>
      <p:ext uri="{BB962C8B-B14F-4D97-AF65-F5344CB8AC3E}">
        <p14:creationId xmlns:p14="http://schemas.microsoft.com/office/powerpoint/2010/main" val="2679543290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tandard.potx [Read-Only]" id="{756BC337-38CE-44BA-B896-85768D508A04}" vid="{9554A963-9F5C-4F0C-9853-3723F7E40F3B}"/>
    </a:ext>
  </a:extLst>
</a:theme>
</file>

<file path=ppt/theme/theme3.xml><?xml version="1.0" encoding="utf-8"?>
<a:theme xmlns:a="http://schemas.openxmlformats.org/drawingml/2006/main" name="Swinburne - Colourful Titles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tandard.potx [Read-Only]" id="{756BC337-38CE-44BA-B896-85768D508A04}" vid="{CC3D3B01-8BE9-4307-AD09-768CABEC5801}"/>
    </a:ext>
  </a:extLst>
</a:theme>
</file>

<file path=ppt/theme/theme4.xml><?xml version="1.0" encoding="utf-8"?>
<a:theme xmlns:a="http://schemas.openxmlformats.org/drawingml/2006/main" name="Swinburne - Dark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-wide-PPT-Template_JF" id="{EFF4B9AF-445E-B24D-B9E2-CEAE88E6D320}" vid="{9ECE9064-D06A-8749-A6C2-4D09428F76C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8B5A9C-D132-4FCF-951F-362122C708F1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6db94942-8a34-4a30-a8e6-78b89cf29212"/>
    <ds:schemaRef ds:uri="32a27114-0f9b-470d-a484-01f5ccaf5a0e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64B8229-934D-4FDB-94FE-E9083E54B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b94942-8a34-4a30-a8e6-78b89cf29212"/>
    <ds:schemaRef ds:uri="32a27114-0f9b-470d-a484-01f5ccaf5a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2624</TotalTime>
  <Words>43</Words>
  <Application>Microsoft Office PowerPoint</Application>
  <PresentationFormat>Widescreen</PresentationFormat>
  <Paragraphs>13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Barlow Light</vt:lpstr>
      <vt:lpstr>Calibri</vt:lpstr>
      <vt:lpstr>Open Sans Semibold</vt:lpstr>
      <vt:lpstr>Open Sans</vt:lpstr>
      <vt:lpstr>Barlow SemiBold</vt:lpstr>
      <vt:lpstr>Montserrat</vt:lpstr>
      <vt:lpstr>Open Sans Light</vt:lpstr>
      <vt:lpstr>Arial</vt:lpstr>
      <vt:lpstr>Open Sans Extrabold</vt:lpstr>
      <vt:lpstr>Swinburne</vt:lpstr>
      <vt:lpstr>Swinburne - Light</vt:lpstr>
      <vt:lpstr>Swinburne - Colourful Titles</vt:lpstr>
      <vt:lpstr>Swinburne - Dark</vt:lpstr>
      <vt:lpstr>Project Presentation and Demonstration</vt:lpstr>
      <vt:lpstr>PowerPoint Presentation</vt:lpstr>
      <vt:lpstr>Overview</vt:lpstr>
      <vt:lpstr>Project Background and Problem Statement</vt:lpstr>
      <vt:lpstr>Project Scope and Objectives</vt:lpstr>
      <vt:lpstr>Project Outcome/Deliverables</vt:lpstr>
      <vt:lpstr>Design Concepts &amp; Trade-offs</vt:lpstr>
      <vt:lpstr>Execution &amp; Technical Challenges  </vt:lpstr>
      <vt:lpstr>Deployment Demonstration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Mandeep Dhindsa</cp:lastModifiedBy>
  <cp:revision>161</cp:revision>
  <dcterms:created xsi:type="dcterms:W3CDTF">2021-04-21T06:12:21Z</dcterms:created>
  <dcterms:modified xsi:type="dcterms:W3CDTF">2026-09-08T01:55:44Z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</Properties>
</file>